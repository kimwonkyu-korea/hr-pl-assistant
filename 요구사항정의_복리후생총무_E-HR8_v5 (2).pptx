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notesMasterIdLst>
    <p:notesMasterId r:id="rId1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notesMaster" Target="notesMasters/notesMaster1.xml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 · 요구사항정의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복리후생·총무 — 요구사항정의서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 —  전체 화면별 계열사별 요구사항 비교  |  공통·차이 자동 식별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6608" y="2103120"/>
            <a:ext cx="347472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6608" y="21396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6608" y="24323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58488" y="2103120"/>
            <a:ext cx="3474720" cy="59436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9" name="Text 7"/>
          <p:cNvSpPr/>
          <p:nvPr/>
        </p:nvSpPr>
        <p:spPr>
          <a:xfrm>
            <a:off x="4358488" y="21396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58488" y="24323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70368" y="2103120"/>
            <a:ext cx="3474720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970368" y="21396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70368" y="24323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49528" y="3017520"/>
            <a:ext cx="182880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49528" y="30358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49528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화면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5488" y="3017520"/>
            <a:ext cx="182880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15488" y="30358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0E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15488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81448" y="3017520"/>
            <a:ext cx="182880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81448" y="30358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181448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개발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47408" y="3017520"/>
            <a:ext cx="182880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147408" y="30358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147408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13368" y="3017520"/>
            <a:ext cx="182880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13368" y="30358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113368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기준: ALL_요구사항정의서.xlsx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요약 — E-HR.8 복리후생·총무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737360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040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화면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685800"/>
            <a:ext cx="1737360" cy="8229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7040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94560" y="1143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685800"/>
            <a:ext cx="1737360" cy="8229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7040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023360" y="1143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개발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685800"/>
            <a:ext cx="1737360" cy="82296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7040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52160" y="1143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685800"/>
            <a:ext cx="1737360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7040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80960" y="1143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09760" y="685800"/>
            <a:ext cx="1737360" cy="8229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9509760" y="7040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509760" y="1143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 모듈별 현황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11680"/>
          <a:ext cx="11430000" cy="109728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685800"/>
                <a:gridCol w="685800"/>
                <a:gridCol w="685800"/>
                <a:gridCol w="822960"/>
                <a:gridCol w="86868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모듈 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모듈명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전체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신규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수정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패키지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사용안함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공통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E-HR.8.1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복리후생/총무종합신청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7857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40A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E-HR.8.2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사내복리후생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</a:rPr>
                        <a:t>78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7857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40A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E-HR.8.3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총무관리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7857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40A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복리후생/총무종합신청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3456432"/>
            <a:ext cx="10881360" cy="27432"/>
          </a:xfrm>
          <a:prstGeom prst="rect">
            <a:avLst/>
          </a:prstGeom>
          <a:solidFill>
            <a:srgbClr val="3355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4787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복리후생 및 총무 관련 종합 신청·내역 화면 (2개 화면)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사내복리후생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3456432"/>
            <a:ext cx="10881360" cy="27432"/>
          </a:xfrm>
          <a:prstGeom prst="rect">
            <a:avLst/>
          </a:prstGeom>
          <a:solidFill>
            <a:srgbClr val="3355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4787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학자금·경조금·근속포상·복지포인트·노조관리·건강검진 등 사내 복리후생 전 영역 (78개 화면)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총무관리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3456432"/>
            <a:ext cx="10881360" cy="27432"/>
          </a:xfrm>
          <a:prstGeom prst="rect">
            <a:avLst/>
          </a:prstGeom>
          <a:solidFill>
            <a:srgbClr val="3355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4787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자원예약·명함·시설관리 등 총무 관련 화면 — 대부분 사용안함 처리 (21개 화면)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복리후생/총무종합신청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E-HR.8.1.1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복리후생/총무종합신청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패키지기본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복리후생/총무종합신청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E-HR.8.1.2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복리후생/총무종합신청내역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패키지기본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학자금기준관리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512064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 : 입사일 기준 2년 이상 근속자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유치원(6~7세) 30만원 / 분기(3,6,9,12월)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중/고등(유상) 전액 실비지원_영수증 증빙 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중/고등(무상) 학력증진 지원금 50만원(1, 3분기)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대학교 전액 실비 지원(1회/반기)_영수증 증빙 必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B5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 : 입사일 기준 2년 이상 근속자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유치원(6~7세) 30만원 / 분기(3,6,9,12월)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중/고등(유상) 전액 실비지원_영수증 증빙 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중/고등(무상) 학력증진 지원금 50만원(1, 3분기)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대학교(국내) 전액 실비 지원(1회/반기)_영수증 증빙 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대학교(해외) 영남대학교 공대 평균 지원금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512064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 : 매년 2/28 기준 2년이상 재직한 자의 자녀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미취학아동학자금 (6,7세) : 30만원/분기 (3,6,9,12월말)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중학생 학습보조비 : 30만원/반기 (3,8월말)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고등학생 학습보조비 : 50만원/반기 (3,8월말)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고등(유상) 및 대학생 : 실비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9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[VPHM]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 : 입사일 기준 2년 이상 근속자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미취학(6~7세) : 10만원 / 매달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중/고등(무상) : 30만원,50만원 / 반기(3월,8월)_재학증명서 제출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고등(유상) 및 대학생 : 실비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D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 : 입사일 기준 2년 이상 근속자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유치원(6~7세) 30만원 / 분기(3,6,9,12월)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중/고등(유상) 전액 실비지원_영수증 증빙 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중/고등(무상) 학력증진 지원금 50만원(1, 3분기)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대학교(국내) 전액 실비 지원(1회/반기)_영수증 증빙 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대학교(해외) 영남대학교 공대 평균 지원금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512064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학자금 지급대상: 2년 이상 근속한 재직자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유치원 학자금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만 5, 6세 자녀 정액 10만원/월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(매월 급여 포함 지급, 다자녀일 경우 비과세한도는 10만원, 나머지 과세)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 · 고등학생 : 전액 실비 정산/분기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대학생 : 전액 실비 정산/반기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학력증진지원금 지급대상: 2년 이상 근속한 재직자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지급조건: 중 · 고등학생 中 학자금 지원 못 받는 경우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지원금: 50만원/반기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05695" y="109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78  (계속)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   |   학자금기준관리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005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06070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0607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38988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463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Valeo] 대상자 : 입사일 기준 2년 이상 근속자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[VPH·VPHC] 지급대상 : 매년 2/28 기준 2년이상 재직한 자의 자녀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학자금 지급대상: 2년 이상 근속한 재직자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45552" y="100584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8010144" y="100584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45552" y="138988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0144" y="146304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학자금대상자신청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581912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연초 1회 신청 구조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증빙 첨부 필수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581912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연초 1회 대상자 집계용 신청서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9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연말 학자금 신청서 증빙서류(등본or가족관계증명서)와 함께 제출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581912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학력증진지원금 : 연 1회 신청, 신청자 한하여 정액처리(금액 입력)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학력증진지원금 특이사항 - 최초 중1, 고1 입학 시 신청 후 담당자 현황 관리하여 지급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중1 입학 시 최초 신청서 제출 후 중 3까지 별도 신청 없음 자동 지급(자퇴 등 예외 시 별도 제외)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27832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2278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282696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68503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연초 1회 신청 구조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[VPH·VPHC] 연초 1회 대상자 집계용 신청서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학력증진지원금 : 연 1회 신청, 신청자 한하여 정액처리(금액 입력)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227832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227832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611880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685032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학자금대상자승인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학자금대상자신청에 대한 승인 화면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학자금대상자신청에 대한 승인 화면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학자금대상자신청에 대한 승인 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학자금대상자신청에 대한 승인 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학자금대상자신청에 대한 승인 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학자금대상자신청에 대한 승인 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학자금신청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2185416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중/고등(유상) 전액 실비지원_영수증 증빙 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대학교 전액 실비 지원(1회/반기)_영수증 증빙 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2185416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실비(영수증 증빙관련)는 학기/분기별 신청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58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[VPHC·VPHT]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대학교 전액 실비 지원(1회/반기)_영수증 증빙 必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9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[VPHM]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중/고등은 3,8월 재학증명서 추가 제출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고등(유상) 및 대학생 : 실비 / 상시_등록금납입증명서 제출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2185416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학자금 : 분기별 신청 필요, 실비처리(금액 입력)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31336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8313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886200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215384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288536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중/고등(유상) 전액 실비지원_영수증 증빙 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[VPH] 실비(영수증 증빙관련)는 학기/분기별 신청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학자금 : 분기별 신청 필요, 실비처리(금액 입력)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831336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831336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4215384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4288536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학자금승인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학자금신청에 대한 승인화면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학자금신청에 대한 승인화면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학자금신청에 대한 승인화면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학자금신청에 대한 승인화면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학자금신청에 대한 승인화면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학자금신청에 대한 승인화면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학자금대상자관리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581912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 자동 생성 및 알림 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581912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신청자 한하여 대상자 자동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정액 지급시 대상자 리스트 당겨와서 급여 처리 (2계좌)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9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신청자 한하여 대상자 자동 생성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581912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인사기본 &gt; 가족 탭 기준 자동 생성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27832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2278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282696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68503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대상자 자동 생성 및 알림 필요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[VPH·VPHC] 신청자 한하여 대상자 자동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인사기본 &gt; 가족 탭 기준 자동 생성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227832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227832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611880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685032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경조기준관리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경조기준은 복리후생_사전조사 엑셀 참고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경조기준은 복리후생_사전조사 엑셀 참고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경조기준은 복리후생_사전조사 엑셀 참고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상조지원금에 한하여 인정상여 반영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상조지원금과 경조금 중복 수혜 시 일부 지급 기준(50%) 적용 필요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경조기준은 복리후생_사전조사 엑셀 참고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경조기준은 복리후생_사전조사 엑셀 참고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경조기준은 복리후생_사전조사 엑셀 참고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경조금신청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경조,상조 통합신청 구조(경조사 1건에 대해서 1번만 신청)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경조,상조 통합신청 구조(경조사 1건에 대해서 1번만 신청)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경조,상조,공조,상조지원 통합신청 구조(경조사 1건에 대해서 1번만 신청)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경조,상조 통합신청 구조(경조사 1건에 대해서 1번만 신청)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경조,상조 통합신청 구조(경조사 1건에 대해서 1번만 신청)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경조,상조,공조,상조지원 통합신청 구조(경조사 1건에 대해서 1번만 신청)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경조금승인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상조회비대상자관리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80744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임직원(외국인 제외)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B5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임직원(외국인 제외), 체크박스로 관리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80744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80744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26664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26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81528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81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10712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83864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[PHC Valeo] 전 임직원(외국인 제외) [VPHe] 전 임직원(외국인 제외), 체크박스로 관리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26664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26664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10712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83864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상조회비관리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매월 급여 5천원 공제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무수혜정산: 근속기간 별 차등 지급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Valeo] 매월 급여 5천원 공제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[VPH·VPHC·VPHM] 무수혜정산: 근속기간 별 차등 지급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근속포상기준관리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512064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대상자: 재직자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지급조건: 근속 10년 / 15년 / 20년 / 25년 / 30년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지급기준: 근속연수 기준 차등 지급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휴가비: 10년(60만원), 15년(100만원), 20년(250만원), 25년(540만원), 30년(600만원)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금코인: 10년(5돈), 15년(7돈), 20년(10돈), 25년(15돈), 30년(20돈)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\"휴가: 10년(3일), 15년(4일), 20년(6일), 25년(8일), 30년(10일)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연속적으로 사용(주말/공휴일 일수 제외)\"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B5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대상자: 재직자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지급조건: 근속 10년 / 15년 / 20년 / 25년 / 30년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지급기준: 근속연수 기준 차등 지급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휴가비: 10년(60만원), 15년(100만원), 20년(250만원), 25년(540만원), 30년(600만원)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금코인: 10년(5돈), 15년(7돈), 20년(10돈), 25년(15돈), 30년(20돈)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휴가사용 : 10년(3일), 15년(4일), 20년(6일), 25년(8일), 30년(10일)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휴가비, 휴가일 : 해당 근속 도래 시점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포상금(금코인) : 10월 18일 창립기념일 지급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512064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: 10년/15년/20년/25년/30년 장기근속자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내역 : 10년(5돈), 15년(7돈), 20년(10돈), 25년(15돈), 30년(20돈)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9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[VPHM]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 : 전 직원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조건: 근속 10년 / 15년 / 20년 / 25년 / 30년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기준: 근속연수 기준 차등 지급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휴가비: 10년(60만원), 15년(100만원), 20년(250만원), 25년(540만원), 30년(600만원)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포상금 : 10년(5돈), 15년(7돈), 20년(10돈), 25년(15돈), 30년(20돈)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 시점 : 휴가비(근속 기준 입사월 말일) / 포상금-근속 기준 창립기념일(3월 22일)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D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대상자: 재직자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지급조건: 근속 10년 / 15년 / 20년 / 25년 / 30년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지급기준: 근속연수 기준 차등 지급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휴가비: 10년(60만원), 15년(100만원), 20년(250만원), 25년(540만원), 30년(600만원)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금코인: 10년(5돈), 15년(7돈), 20년(10돈), 25년(15돈), 30년(20돈)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지급시점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휴가비, 휴가일 : 해당 근속 도래 시점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포상금(금코인) : 11월 24일 창립기념일 지급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512064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지급대상: 재직자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지급조건: 근속 10년 / 15년 / 20년 / 25년 / 30년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지급기준: 근속연수 기준 차등 지급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포상금: 10년(60만원), 15년(100만원), 20년(250만원), 25년(540만원), 30년(600만원)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포상품: 10년(5돈), 15년(7돈), 20년(10돈), 25년(15돈), 30년(20돈)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지급시점: 해당 근속 도래 시점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05695" y="109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78  (계속)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E-HR.8.2.12   |   근속포상기준관리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005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06070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0607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38988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463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Valeo] 대상자: 재직자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[VPH·VPHC] 대상 : 10년/15년/20년/25년/30년 장기근속자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지급대상: 재직자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45552" y="100584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8010144" y="100584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45552" y="138988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0144" y="146304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근속포상신청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장기근속포상자에 대해서 신청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장기근속포상자에 대해서 신청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장기근속포상자에 대해서 신청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장기근속포상자에 대해서 신청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근속포상승인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장기근속포상신청에 대해서 승인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장기근속포상신청에 대해서 승인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장기근속포상신청에 대해서 승인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장기근속포상신청에 대해서 승인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근속/정년퇴직 대상자관리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581912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근속포상기준으로 근속포상신청자 한하여 대상자 및 포상금 자동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포상품(금/은 등)은 시세의 변동성이 있으므로 수기입력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급여일자 또는 급여년월을 선택 후 마감 기능(급여 계산 시 활용)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581912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근속포상기준으로 근속포상신청자 한하여 대상자 및 포상금 자동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포상품(금/은 등)은 시세의 변동성이 있으므로 수기입력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급여일자 또는 급여년월을 선택 후 마감 기능(급여 계산 시 활용)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581912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근속포상기준과 근속년수 및 인사정보를 기반으로 대상자 및 포상금 자동 생성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포상품(금/은 등)은 시세의 변동성이 있으므로 수기입력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급여일자 또는 급여년월을 선택 후 마감 기능(급여 계산 시 활용)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27832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2278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282696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68503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근속포상기준으로 근속포상신청자 한하여 대상자 및 포상금 자동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근속포상기준으로 근속포상신청자 한하여 대상자 및 포상금 자동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근속포상기준과 근속년수 및 인사정보를 기반으로 대상자 및 포상금 자동 생성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227832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227832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611880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685032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포상금대상자관리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근속, 정년퇴직을 제외한 포상금 입력하는 화면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근속, 정년퇴직을 제외한 포상금 입력하는 화면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근속, 정년퇴직, 자녀첫돌을 제외한 포상금 입력하는 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근속, 정년퇴직을 제외한 포상금 입력하는 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근속, 정년퇴직을 제외한 포상금 입력하는 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근속, 정년퇴직, 자녀첫돌을 제외한 포상금 입력하는 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기타인정상여코드관리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기타인정상여코드 기준관리하는 화면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기타인정상여코드 기준관리하는 화면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기타인정상여코드 기준관리하는 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기타인정상여코드 기준관리하는 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기타인정상여코드 기준관리하는 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기타인정상여코드 기준관리하는 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기타인정상여대상자관리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기타인정상여코드 기준으로 대상자를 입력하는 화면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급여일자 또는 급여년월을 선택 후 마감 기능(급여 계산 시 활용)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기타인정상여코드 기준으로 대상자를 입력하는 화면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급여일자 또는 급여년월을 선택 후 마감 기능(급여 계산 시 활용)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기타인정상여코드 기준으로 대상자를 입력하는 화면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급여일자 또는 급여년월을 선택 후 마감 기능(급여 계산 시 활용)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기타인정상여코드 기준으로 대상자를 입력하는 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기타인정상여코드 기준으로 대상자를 입력하는 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기타인정상여코드 기준으로 대상자를 입력하는 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상품권기준관리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512064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 : 전 인원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지급금액 : 10만원 상품권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지금시점 : 매년 설, 추석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B5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 : 전 직원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설, 추석 상품권 10만원/각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512064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설/추석/노동절 상품권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회사창립/노조창립 기념선물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야유회비/회식비 (무급휴직자 제외)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9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[VPHM]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: 전 직원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 : 10만원 상품권(신세계, 온누리)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지금시점 : 매년 설, 추석, 창립기념일(3월 22일), 야유회비(4월 중순), 연말회식비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근로자의날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: 전 직원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: 본인 생일, 배우자 생일 및 가족기념일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 : 본인 생일 치약 지급(16,500 상당), 배우자 생일 및 가족기념일(상품권 5만원)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: 창립기념일 모범사원 대상자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 : 10만원대상 : 창립기념일 모범사원 대상자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 : 10만원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D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 : 전 직원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설, 추석 상품권 10만원/각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512064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지급대상: 재직자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지급조건: 본인 생일 귀속월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지원금: 5만원 상품권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지급대상: 재직자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지급조건: 명절 기준일 재직자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지급기준: 연 2회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지급금액: 설/추석 각 10만원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지급대상: 승진대상자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지급조건: 매년 1월 승진 시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지원금: 30만원 상품권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05695" y="109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78  (계속)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E-HR.8.2.19   |   상품권기준관리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Text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005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06070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0607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38988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463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Valeo] 지급대상 : 전 인원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[VPH·VPHC] 설/추석/노동절 상품권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지급대상: 재직자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45552" y="100584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8010144" y="100584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45552" y="138988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0144" y="146304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상품권대상자관리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80744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상품권기준관리에 셋팅된 기준으로 대상자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기준이 없을 시에는 수기 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급여일자 또는 급여년월을 선택 후 마감 기능(급여 계산 시 활용)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80744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상품권기준관리에 셋팅된 기준으로 대상자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기준이 없을 시에는 수기 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급여일자 또는 급여년월을 선택 후 마감 기능(급여 계산 시 활용)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80744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상품권기준관리에 셋팅된 기준으로 대상자 생성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기준이 없을 시에는 수기 입력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급여일자 또는 급여년월을 선택 후 마감 기능(급여 계산 시 활용)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26664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26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81528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81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10712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83864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상품권기준관리에 셋팅된 기준으로 대상자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상품권기준관리에 셋팅된 기준으로 대상자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상품권기준관리에 셋팅된 기준으로 대상자 생성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26664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26664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10712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83864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복지포인트기준관리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분기별, 포인트별 기준을 관리하는 항목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D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분기별, 포인트별 기준을 관리하는 항목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분기별, 포인트별 기준을 관리하는 항목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[VPHT] 분기별, 포인트별 기준을 관리하는 항목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복지포인트MASTER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복지포인트 지급내역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엑셀: 지급내역 master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D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복지포인트 지급내역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엑셀: 지급내역 master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개인별 복지포인트 지급내역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[VPHT] 개인별 복지포인트 지급내역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연간복지포인트관리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대의원명단관리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노동조합 대의원명단을 관리하는 화면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직책|성명|부서|휴대전화|비고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특이사항: 대의원한하여 타 계열사 인원도 관리하고 있음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[VPH] 노동조합 대의원명단을 관리하는 화면 직책|성명|부서|휴대전화|비고 특이사항: 대의원한하여 타 계열사 인원도 관리하고 있음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조합원명부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인사기본 기준 조합원으로 되어있는 인원에 대한 조합원 명부를 확인하는 화면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[VPH] 인사기본 기준 조합원으로 되어있는 인원에 대한 조합원 명부를 확인하는 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노조회비명단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귀속년월별 급여에 공제된 노조회비를 조회하는 화면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[VPH] 귀속년월별 급여에 공제된 노조회비를 조회하는 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노조회비변동현황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78308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78308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전월대비 조합원 회비공제 현황에 대해서 집계 및 증감 현황을 보여주는 화면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회비공제조합원, 전체조합원별 인원현황 표기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인원 집계(남/여 구분)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금액 집계(남/여 구분)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인원에 대해서 변동사항 표기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78308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4290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48386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4838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1304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886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[VPH] 전월대비 조합원 회비공제 현황에 대해서 집계 및 증감 현황을 보여주는 화면 회비공제조합원, 전체조합원별 인원현황 표기 - 인원 집계(남/여 구분) - 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42900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42900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81304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88620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건강보험피부양자등록신청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등록을 위한 건강보험피부양자등록 신청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대상자는 텍스트로 기입할 수 있도록 구현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[VPH] EDI 등록을 위한 건강보험피부양자등록 신청 대상자는 텍스트로 기입할 수 있도록 구현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E-HR.8.2.29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건강보험피부양자등록승인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건강보험피부양자등록신청에 대해서 현황 및 승인화면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[VPH] 건강보험피부양자등록신청에 대해서 현황 및 승인화면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자가운전보조비신청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대상자: 사무직 G3 이상 대상자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지급금액: 20만원/월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증빙: 자가운전비 신청서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대상자: 사무직 G3 이상 대상자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지급금액: 20만원/월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증빙: 자가운전비 신청서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대상자: 사무직 G3 이상 대상자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지급금액: 20만원/월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증빙: 자가운전비 신청서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대상자: 사무직 G3 이상 대상자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대상자: 사무직 G3 이상 대상자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대상자: 사무직 G3 이상 대상자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자가운전보조비승인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자가운전보조비신청서에 대한 승인화면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자가운전보조비신청서에 대한 승인화면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자가운전보조비신청서에 대한 승인화면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자가운전보조비신청서에 대한 승인화면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[VPH·VPHC·VPHM·VPHT] 자가운전보조비신청서에 대한 승인화면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자가운전보조비신청서에 대한 승인화면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사택관리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78308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 : 임원(계약내용에 따라 지급여부 결정), VIE(외부사용자)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지급금액 : 회사 사택으로 계약 후 주거지 지원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 → 계약내용에 따라 차등지급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→ 월 70만원(관리비 제외)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사택 정보, 임직원 매핑 관리 화면 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78308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78308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4290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48386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4838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1304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886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[PHC Valeo·VPHe] 지급대상 : 임원(계약내용에 따라 지급여부 결정), VIE(외부사용자) 지급금액 : 회사 사택으로 계약 후 주거지 지원 임원 → 계…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42900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42900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81304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88620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임원차량관리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지급대상: 임원 / VIE(외부사용자)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사택 정보, 임직원 매핑 관리 화면 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[PHC Valeo·VPHe] 지급대상: 임원 / VIE(외부사용자) → 사택 정보, 임직원 매핑 관리 화면 필요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비자관리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80744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지급대상: 외국인 임직원 및 가족 / VIE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외국인 임직원, 가족 비자관리하는 화면필요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현재는 VIE(사번이 없는 외부사용자)도 관리하고 있음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비자 만료 알림 기능 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80744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80744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26664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26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81528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81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10712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83864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[PHC Valeo·VPHe] 지급대상: 외국인 임직원 및 가족 / VIE → 외국인 임직원, 가족 비자관리하는 화면필요 &gt;&gt; 현재는 VIE(사번이 없는 외부사용…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26664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26664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10712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83864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식수/통근버스운영관리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78308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78308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 별 근무인원을 조사하여 식수(중식/석식/야식) 및 통근버스 운영 여부 파악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구글문서로 수기 관리하여 입력 번거롭고 및 파악 어려움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[요청사항]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근무계획시간과 연계하여 신청 및 집계할 수 있는 메뉴 개발 필요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78308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4290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48386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4838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1304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886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[VPH] 공장 별 근무인원을 조사하여 식수(중식/석식/야식) 및 통근버스 운영 여부 파악 현재 구글문서로 수기 관리하여 입력 번거롭고 및 파악 어려움 [요청사항…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42900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42900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81304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88620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유류비신청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78308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G2 이하 직급자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G3 직급자 공적외출 편도 30km 이상 자차 이용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모두 출장시 자차 이용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지급조건 : 공정외출 및 출장 자차이용 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지급금액 : 실제 운행 거리 당 유류비 지원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78308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78308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대상자는 SSC 기준과 동일하게 적용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전월 사용분을 매월 초까지 신청 후 결재 진행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일자별 상세내용 기입 후 기안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항목: 일자, 출발지, 경유지, 도착지, 키로수, 비고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4290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48386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4838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1304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886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Valeo] 지급대상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대상자는 SSC 기준과 동일하게 적용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42900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42900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81304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88620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유류비승인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유류비 신청에 대한 승인화면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유류비 신청에 대한 승인화면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Valeo] 유류비 신청에 대한 승인화면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유류비 신청에 대한 승인화면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종합검진일정신청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연초 1회 검진 대상자 기준 신청 진행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 신청 가능 일자 사전 설정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희망일 선택 방식 적용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결재선 없이 본인결재 후 승인처리방식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신청/연동 여부 검토 필요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연초 1회 검진 대상자 기준 신청 진행 담당자가 신청 가능 일자 사전 설정 개인별 희망일 선택 방식 적용 별도 결재선 없이 본인결재 후 승인처리방식 모바일 신청/…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E-HR.8.2.39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종합검진일정승인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종합검진일정신청에 대한 승인 및 현황화면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종합검진일정신청에 대한 승인 및 현황화면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외부인식수신청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 기준이 식수 건수를 신청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사전/사후 신청 가능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신청 기준이 식수 건수를 신청 사전/사후 신청 가능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외부인식수승인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외부인식수신청에 대한 승인화면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외부인식수신청에 대한 승인화면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문화공연관람신청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회차별 기준으로 선착순 신청구조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현재는 부서별, TO-BE는 개인별 신청방식으로 변경요청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결재없이 본인결재 후 승인처리방식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연동여부 검토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회차별 기준으로 선착순 신청구조 현재는 부서별, TO-BE는 개인별 신청방식으로 변경요청 별도 결재없이 본인결재 후 승인처리방식 모바일 연동여부 검토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문화공연관람승인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문화공연관람신청에 대한 현황 및 승인화면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문화공연관람신청에 대한 현황 및 승인화면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시설유지보수신청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신청서 항목 구성 필요 (요청장소, 요청내용, 희망일, 공사금액 등)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금액별 결재선 변경되는건 결재선변경을 통해 조정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결재선 변경 관련 유의사항 안내 기재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신청서 항목 구성 필요 (요청장소, 요청내용, 희망일, 공사금액 등) 금액별 결재선 변경되는건 결재선변경을 통해 조정 결재선 변경 관련 유의사항 안내 기재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시설유지보수승인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시설유지보수신청에 대한 승인화면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시설유지보수신청에 대한 승인화면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질병코드관리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의료비기준관리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의료비신청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E-HR.8.2.49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의료비승인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사내대출기준관리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사내대출신청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사내대출승인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사내대출상환신청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사내대출상환승인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사내대출이자생성관리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개인연금기준관리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개인연금신청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개인연금승인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E-HR.8.2.59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개인연금현황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리조트관리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패키지셋업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80744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80744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지급대상: 전 직원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평달: 1인 1회 최대 2박까지 리조트 신청 (소노호텔&amp;리조트)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결재선: 본인결재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80744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26664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26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81528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81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10712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83864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[VPH·VPHC·VPHM·VPHT] 지급대상: 전 직원 평달: 1인 1회 최대 2박까지 리조트 신청 (소노호텔&amp;리조트) 결재선: 본인결재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26664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26664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10712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83864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성수기리조트관리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패키지셋업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80744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80744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지급대상: 전 직원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성수기 기간: 확정된 숙박내역에 대해 추첨 실시 (여름, 겨울 각 1회)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결재선: 팀장결재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80744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26664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26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81528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81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10712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83864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[VPH·VPHC·VPHM·VPHT] 지급대상: 전 직원 성수기 기간: 확정된 숙박내역에 대해 추첨 실시 (여름, 겨울 각 1회) 결재선: 팀장결재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26664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26664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10712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83864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리조트지원대상자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패키지셋업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직원 대상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[VPH·VPHC·VPHM·VPHT] 전 직원 대상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리조트신청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성수기/평달 별도로 신청할 수 있도록 개발요청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기간 내 1건만 신청가능하도록 설정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[VPH·VPHC·VPHM·VPHT] 성수기/평달 별도로 신청할 수 있도록 개발요청 동일 기간 내 1건만 신청가능하도록 설정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리조트승인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패키지기본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[VPH·VPHC·VPHM·VPHT]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리조트신청에 대한 승인 및 현황 화면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신청한 리조트에 대해서 확정/대기 상태 값 필요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[VPH·VPHC·VPHM·VPHT] 리조트신청에 대한 승인 및 현황 화면 신청한 리조트에 대해서 확정/대기 상태 값 필요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동호회관리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패키지셋업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써클기준관리 및 써클별 회장/총무 관리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써클기준관리 및 써클별 회장/총무 관리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동호회가입탈퇴신청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패키지기본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가입/탈퇴 신청 및 승인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가입/탈퇴 시 회장 및 총무에게 알림 기능 필요(문자, 안될 경우 메일)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가입/탈퇴 신청 및 승인 가입/탈퇴 시 회장 및 총무에게 알림 기능 필요(문자, 안될 경우 메일)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동호회가입탈퇴승인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패키지기본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써클(동호회)가입탈퇴신청에 대한 승인 및 현황화면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1써클가입만 가능하도록 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써클(동호회)가입탈퇴신청에 대한 승인 및 현황화면 1인 1써클가입만 가능하도록 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동호회급여공제동의이력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E-HR.8.2.69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동호회(재)등록신청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동호회(재)등록승인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동호회지원금신청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동호회지원금승인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동호회(써클)대상자관리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써클별 대상자 및 월별 지원금관리</a:t>
            </a:r>
            <a:endParaRPr lang="en-US" sz="100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지원금: 회원수 × 3만원 지급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써클별 대상자 및 월별 지원금관리 지원금: 회원수 × 3만원 지급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어학시험응시료신청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어학시험응시료승인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건강검진기준관리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512064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3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[PHC Valeo·VPHe]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동일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512064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종합검진: 만35세 이상, 2년 1회 (주민번호 두번째자리 짝/홀)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일반검진: 종합검진 제외 대상 (신규입사자 포함)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특수검진: 생산직 + 근무조(인사기본 근무조컬럼 확인)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년도별 사원 조회 기능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시작년도 ~ 종료년도 범위 검색 요청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특수검진은 종합검진/일반검진과 중복가능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검진결과 입력 기능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텍스트 입력 방식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입력 영역 확장 및 개행 지원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첨부파일 사용 여부 검토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임원, 배우자 검진 한하여 과세처리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58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[VPHC]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동일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512064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동일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05695" y="109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/ 78  (계속)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E-HR.8.2.76   |   건강검진기준관리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005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06070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0607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38988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463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계열: [PHC Valeo·VPHe] VPH 동일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계열: [VPH] 대상자: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(KV): VPH 동일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45552" y="100584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8010144" y="100584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45552" y="138988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0144" y="146304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건강검진대상자관리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[VPH]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건강검진기준관리에 등록된 기준으로 대상자 생성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사 공통: [VPH] 건강검진기준관리에 등록된 기준으로 대상자 생성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사내복리후생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/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E-HR.8.2.78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복리후생 가족주민번호 갱신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자원예약기준관리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자원예약신청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자원예약관리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명함신청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명함승인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회의실관리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회의실예약신청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회의실예약승인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업무차량배차승인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패키지기본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업무차량배차신청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패키지기본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업무차량관리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패키지기본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8EE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선물기준관리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선물신청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선물신청관리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골프장기준관리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골프장예약신청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골프장예약관리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도서구입신청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E-HR.8.3.19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도서구입승인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E-HR.8.3.20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개인PC정보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 &gt; 총무관리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2895" y="1097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91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E-HR.8.3.21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83280" y="3291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인장현황관리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682935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366765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PHC발레오 계열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Valeo · VPHe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3667658" cy="1371600"/>
          </a:xfrm>
          <a:prstGeom prst="rect">
            <a:avLst/>
          </a:prstGeom>
          <a:solidFill>
            <a:srgbClr val="E7EC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2018" y="1005840"/>
            <a:ext cx="3667658" cy="502920"/>
          </a:xfrm>
          <a:prstGeom prst="rect">
            <a:avLst/>
          </a:prstGeom>
          <a:solidFill>
            <a:srgbClr val="5B2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178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평화발레오 계열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9178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VPH · VPHC · VPHM · VPHT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2018" y="1508760"/>
            <a:ext cx="3667658" cy="1371600"/>
          </a:xfrm>
          <a:prstGeom prst="rect">
            <a:avLst/>
          </a:prstGeom>
          <a:solidFill>
            <a:srgbClr val="EFE6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1005840"/>
            <a:ext cx="366765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7" y="104241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카펙발레오 (KV)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3997" y="1280160"/>
            <a:ext cx="34847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6837" y="1508760"/>
            <a:ext cx="3667658" cy="1371600"/>
          </a:xfrm>
          <a:prstGeom prst="rect">
            <a:avLst/>
          </a:prstGeom>
          <a:solidFill>
            <a:srgbClr val="E0F2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3997" y="1645920"/>
            <a:ext cx="3393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72237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종합 / 결정사항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사용안함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7223760" cy="941832"/>
          </a:xfrm>
          <a:prstGeom prst="rect">
            <a:avLst/>
          </a:prstGeom>
          <a:solidFill>
            <a:srgbClr val="EEEE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45552" y="3017520"/>
            <a:ext cx="3888943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8010144" y="3017520"/>
            <a:ext cx="37060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쟁점 / 논의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45552" y="3401568"/>
            <a:ext cx="3888943" cy="941832"/>
          </a:xfrm>
          <a:prstGeom prst="rect">
            <a:avLst/>
          </a:prstGeom>
          <a:solidFill>
            <a:srgbClr val="FBE9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0144" y="3474720"/>
            <a:ext cx="36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110</Slides>
  <Notes>110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E-HR.8 복리후생·총무 요구사항정의</dc:title>
  <dc:subject>PptxGenJS Presentation</dc:subject>
  <dc:creator>PptxGenJS</dc:creator>
  <cp:lastModifiedBy>PptxGenJS</cp:lastModifiedBy>
  <cp:revision>1</cp:revision>
  <dcterms:created xsi:type="dcterms:W3CDTF">2026-04-30T00:11:50Z</dcterms:created>
  <dcterms:modified xsi:type="dcterms:W3CDTF">2026-04-30T00:11:50Z</dcterms:modified>
</cp:coreProperties>
</file>